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d0c1530-402e-6c62-6a10-e2ee1c5bd7aa}">
          <p14:sldIdLst>
            <p14:sldId id="256"/>
            <p14:sldId id="257"/>
            <p14:sldId id="258"/>
          </p14:sldIdLst>
        </p14:section>
        <p14:section name="Solution" id="{90e31683-5049-b7ae-3dc6-c43af1bc5dae}">
          <p14:sldIdLst>
            <p14:sldId id="259"/>
            <p14:sldId id="260"/>
            <p14:sldId id="261"/>
            <p14:sldId id="262"/>
            <p14:sldId id="263"/>
          </p14:sldIdLst>
        </p14:section>
        <p14:section name="Demo" id="{dd02a1c7-8cbd-ebea-5ac5-cca94b830934}">
          <p14:sldIdLst>
            <p14:sldId id="264"/>
          </p14:sldIdLst>
        </p14:section>
        <p14:section name="Evaluation" id="{d4c67338-0d05-3187-4369-6de13844c56e}">
          <p14:sldIdLst>
            <p14:sldId id="265"/>
          </p14:sldIdLst>
        </p14:section>
        <p14:section name="Wrap-up" id="{c330d298-af31-6427-707b-9d62f64b453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00200"/>
            <a:ext cx="65836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420624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Telecom Network Decision-Support Assistant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Telecom Network Decision-Support Assistant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0020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Telecom Network Decision-Support Assistant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42062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AI-Powered Historical Incident Retrieval, Network Analytics and Troubleshooting Recommendations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Technical project 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371600"/>
            <a:ext cx="1097280" cy="1463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326880" y="1828800"/>
            <a:ext cx="128016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2834640"/>
            <a:ext cx="1920240" cy="7315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046720" y="2834640"/>
            <a:ext cx="1280160" cy="10972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834640"/>
            <a:ext cx="640080" cy="17373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3931920"/>
            <a:ext cx="548640" cy="16459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595360" y="4572000"/>
            <a:ext cx="137160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4572000"/>
            <a:ext cx="1005840" cy="10972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1828800"/>
            <a:ext cx="640080" cy="17373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966960" y="3566160"/>
            <a:ext cx="1280160" cy="10058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71600"/>
            <a:ext cx="2377440" cy="45720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170432"/>
            <a:ext cx="402336" cy="40233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0" y="1554480"/>
            <a:ext cx="548640" cy="54864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9408" y="248716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64240" y="3383280"/>
            <a:ext cx="365760" cy="36576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3675888"/>
            <a:ext cx="512064" cy="512064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74352" y="4279392"/>
            <a:ext cx="585216" cy="58521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539496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53344" y="5449824"/>
            <a:ext cx="438912" cy="43891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Recurring network issues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76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19476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High latency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334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Packet loss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26334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Dropped calls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192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Handover failures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331927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Service degradation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31920"/>
            <a:ext cx="5532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Historical records hold metrics, alarms, configuration changes, traffic and past faults, but searching them manually for similar incidents is slow.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Engineers need relevant cases, likely causes, risk assessment and recommended actions.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1280160"/>
            <a:ext cx="5029200" cy="44805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645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005" y="1821485"/>
            <a:ext cx="380390" cy="38039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94944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Project objective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301752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Develop an AI-powered decision-support assistant that converts natural-language network queries into relevant historical evidence, network analysis, risk predictions and troubleshooting recommendations.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190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Intelligent Incident Retrieval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Hybrid keyword and semantic search with metadata filters. Synapt (via MCP) adds domain knowledge and schema context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88920" y="132588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292608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7190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Network Analysis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Root-cause hypotheses, incident classification and potential impact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0" y="132588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516636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7190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Predictive Analytics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 models for performance prediction and fault-risk estimation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269480" y="132588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40664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7190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Troubleshooting Recommendations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Domain-informed suggestions supported by relevant procedures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509760" y="132588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96469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171907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469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Interactive Interface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646920" y="31089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Natural-language queries, telemetry predictions and scenario comparison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Combines historical evidence, machine learning and domain knowledge to support informed network-engineer decisions. MCP connects the assistant to the Synapt Context Substrate.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ystem architecture diagram of the AI-Powered Telecom Network Operations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88" y="108719"/>
            <a:ext cx="10789920" cy="6640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Multi-Agent Application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344168"/>
            <a:ext cx="3300984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Major AI/ML agents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4708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Query/RAG Agent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QuerySynaptAgent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Synapt context, planning, hybrid retrieval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Prediction Agent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NetworkPredictionAgent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Performance and fault-risk models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6499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RCA Agent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RCAAgent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Evidence-based root-cause hypotheses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2394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SOP Recommendation Agent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RecommendationAgent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Synapt procedures to recommended actions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453128" y="1344168"/>
            <a:ext cx="3300984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53128" y="134416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and rule-based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8470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Rule-Based Incident Classification Agent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IncidentClassificationAgent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P1 to P4 priority and current-scenario classes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1012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Network Impact Analyzer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NetworkImpactAnalyzer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Rule-based estimate of possible network and service impact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520440" cy="3749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1344168"/>
            <a:ext cx="3300984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47888" y="134416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and support services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184708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Input Guardrail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InputGuardrail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Validates and blocks unsafe input; not an AI agent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6060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Orchestrator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TelecomAnalysisOrchestrator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LangGraph workflow and shared state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36499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Response summary and assembly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LLM summarizer or fallback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Builds the structured response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12394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Evaluation and feedback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DeepEval, contract tests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Feedback stored for later evaluation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Two separate classifications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504688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504688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Prediction Agent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582472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48840" y="5504688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48840" y="5504688"/>
            <a:ext cx="2148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KPI classification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582472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26280" y="5504688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26280" y="5504688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Good · Moderate · Poor · Critical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53949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5504688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2512" y="5504688"/>
            <a:ext cx="11887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RCA Agent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71232" y="582472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99832" y="5504688"/>
            <a:ext cx="21488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99832" y="5504688"/>
            <a:ext cx="2148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Rule-Based Incident Classification Agent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48672" y="582472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177272" y="5504688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177272" y="5504688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P1 · P2 · P3 · P4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Query Understanding and Hybrid Retrieval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960120"/>
          </a:xfrm>
          <a:prstGeom prst="roundRect">
            <a:avLst>
              <a:gd name="adj" fmla="val 7619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108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Natural-language query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e.g. latency above 130 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26280" y="1371600"/>
            <a:ext cx="3108960" cy="960120"/>
          </a:xfrm>
          <a:prstGeom prst="roundRect">
            <a:avLst>
              <a:gd name="adj" fmla="val 7619"/>
            </a:avLst>
          </a:prstGeom>
          <a:solidFill>
            <a:schemeClr val="tx2">
              <a:alpha val="14000"/>
            </a:schemeClr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371600"/>
            <a:ext cx="3108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Query planning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 planner, deterministic fallback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1371600"/>
            <a:ext cx="3108960" cy="960120"/>
          </a:xfrm>
          <a:prstGeom prst="roundRect">
            <a:avLst>
              <a:gd name="adj" fmla="val 7619"/>
            </a:avLst>
          </a:prstGeom>
          <a:solidFill>
            <a:schemeClr val="tx2">
              <a:alpha val="14000"/>
            </a:schemeClr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0" y="1371600"/>
            <a:ext cx="3108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Normalization and filters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metrics, schema, metadata, explicit numeric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1851660"/>
            <a:ext cx="8686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35240" y="1851660"/>
            <a:ext cx="8686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2743200"/>
            <a:ext cx="3840480" cy="457200"/>
          </a:xfrm>
          <a:prstGeom prst="roundRect">
            <a:avLst>
              <a:gd name="adj" fmla="val 16000"/>
            </a:avLst>
          </a:prstGeom>
          <a:solidFill>
            <a:schemeClr val="accent5">
              <a:alpha val="14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16052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Synapt: telecom domain knowledge and schema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6080760" y="2331720"/>
            <a:ext cx="0" cy="4114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" y="3337560"/>
            <a:ext cx="113842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Hybrid retrieval over the historical incident dataset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3749040"/>
            <a:ext cx="2880360" cy="1508760"/>
          </a:xfrm>
          <a:prstGeom prst="roundRect">
            <a:avLst>
              <a:gd name="adj" fmla="val 4848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32520" y="3749040"/>
            <a:ext cx="28803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Historical incident 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CSV with applied filters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0" y="2331720"/>
            <a:ext cx="0" cy="1417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60720" y="374904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Chroma semantic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~60% of hybrid score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457200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4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572000"/>
            <a:ext cx="2560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BM25 keyword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~40% of hybrid score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54680" y="3749040"/>
            <a:ext cx="2194560" cy="1508760"/>
          </a:xfrm>
          <a:prstGeom prst="roundRect">
            <a:avLst>
              <a:gd name="adj" fmla="val 4848"/>
            </a:avLst>
          </a:prstGeom>
          <a:solidFill>
            <a:schemeClr val="tx2">
              <a:alpha val="14000"/>
            </a:schemeClr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54680" y="3749040"/>
            <a:ext cx="21945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Hybrid ranking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plus metric relevance scoring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194560" cy="1508760"/>
          </a:xfrm>
          <a:prstGeom prst="roundRect">
            <a:avLst>
              <a:gd name="adj" fmla="val 4848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749040"/>
            <a:ext cx="21945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Ranked historical incidents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evidence for RCA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flipH="1">
            <a:off x="8321040" y="409194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8321040" y="491490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5349240" y="409194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5349240" y="491490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743200" y="450342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Historical incidents are the evidence source. Synapt context is advisory and does not prove root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Network Analysis and Troubleshooting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Root-cause hypotheses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202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Ranked, evidence-linked hypotheses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Supporting incidents and metrics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or contradictory evidence noted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9632" y="128016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17080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96912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Rule-based incident classification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96912" y="19202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P1 to P4 priority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Historical and current scenario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Prototype thresholds, not SLAs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765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Potential impact assessment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9776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Possible network and service effects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Rule-based, uses telemetry and predictions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confirmed customer impact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99632" y="333756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3611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851" y="37654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96912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Procedure-supported recommendations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296912" y="39776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 retrieved through Synapt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Converted into recommended actions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only when requested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2960" y="5440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Evidence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Hypotheses link to historical incidents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480560" y="5440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Uncertainty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RCA is a hypothesis, impact is potential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138160" y="5440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Engineers confirm against approved procedures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Machine Learning and Prediction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1261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The telemetry also goes to the fault model as input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1600200"/>
            <a:ext cx="0" cy="4114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600200"/>
            <a:ext cx="66751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600200"/>
            <a:ext cx="0" cy="4114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2">
              <a:alpha val="14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Current telemetry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 inputs only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011680"/>
            <a:ext cx="2560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Network performance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predicts 7 KPIs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0116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14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2011680"/>
            <a:ext cx="2560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Fault tolerance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predicts fault occurrence rate (%)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96696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0" y="2011680"/>
            <a:ext cx="1645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tier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 to CRITICAL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2514600"/>
            <a:ext cx="6400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2514600"/>
            <a:ext cx="11887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251460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7607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 predicted KPIs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3017520"/>
            <a:ext cx="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14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3520440"/>
            <a:ext cx="2560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Rule-based KPI classification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Good to Critical, status, score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the prediction runs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5257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Telemetry enters the prediction agent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0440" y="5257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2044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network performance model predicts the 7 KPIs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5257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predicted KPIs are added to the telemetry as input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5256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9189720" y="5257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8972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fault tolerance model predicts the fault rate and risk tier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236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Requires valid telemetry. Predictions are estimates, not live observations.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965960" y="2377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525" y="25530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Screenshot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AI Assistant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a network question: evidence, RCA, impact, recommendations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715000" y="2377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5" y="25530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Screenshot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4709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ML Prediction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Enter telemetry: KPI predictions and fault risk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9464040" y="2377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05" y="255300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Screenshot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4709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Scenario Comparison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Current vs what-if telemetry: score and status change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Evaluation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0" cy="493776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 model evaluation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80,000 training samples, 20,000 held-out test samples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Network Performance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2322576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23225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good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0.9782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29.44 Mbps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RMSE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35.42 Mbps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3749040" cy="0"/>
          </a:xfrm>
          <a:prstGeom prst="line">
            <a:avLst/>
          </a:prstGeom>
          <a:noFill/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Fault Risk 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4242816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4242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good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R² score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0.9907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1.07%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RMSE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1.35%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65836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0" y="12801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0.96</a:t>
            </a:r>
            <a:endParaRPr lang="en-US" sz="5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128016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RAG retrieval quality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DeepEval judge metrics, test case latency_above_130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29200" y="260604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31089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Contextual Precision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108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359816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36118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Contextual Recall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3611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212080" y="410108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12080" y="4114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Contextual Relevancy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114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12080" y="460400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212080" y="46177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Filter Compliance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46177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69480" y="260604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523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RCA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31089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RCA Quality [GEval]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823960" y="3108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52360" y="359816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52360" y="36118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Faithfulness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823960" y="3611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452360" y="410108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52360" y="4114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Evidence and Caution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823960" y="4114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509760" y="260604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692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31089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 Relevancy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1064240" y="31089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692640" y="359816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82912" y="3611880"/>
            <a:ext cx="1956816" cy="475488"/>
          </a:xfrm>
          <a:prstGeom prst="roundRect">
            <a:avLst>
              <a:gd name="adj" fmla="val 11538"/>
            </a:avLst>
          </a:prstGeom>
          <a:solidFill>
            <a:schemeClr val="accent5">
              <a:alpha val="30000"/>
            </a:schemeClr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36118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Faithfulness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1064240" y="3611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0.86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692640" y="4101084"/>
            <a:ext cx="1737360" cy="0"/>
          </a:xfrm>
          <a:prstGeom prst="line">
            <a:avLst/>
          </a:prstGeom>
          <a:noFill/>
          <a:ln w="6350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92640" y="4114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Hallucination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1064240" y="4114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1.00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029200" y="5349240"/>
            <a:ext cx="6583680" cy="868680"/>
          </a:xfrm>
          <a:prstGeom prst="roundRect">
            <a:avLst>
              <a:gd name="adj" fmla="val 12632"/>
            </a:avLst>
          </a:prstGeom>
          <a:solidFill>
            <a:schemeClr val="accent5">
              <a:alpha val="2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303520" y="53492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Final-answer faithfulness 0.86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output stated 165 historical incidents, but the retrieval context listed only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One decision-support workflow, from input guardrail to response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45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Input guardrail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validates and blocks unsafe or irrelevant queries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579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Query agent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Synapt domain context, planning, hybrid incident retrieval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7004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Prediction agent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performance model, then fault model, with valid telemetry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18211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RCA agent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evidence-based root-cause hypotheses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941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Classification agent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rule-based P1 to P4 priority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Impact analyzer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possible network and service impact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71830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Recommendation agent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Synapt SOP procedures turned into actions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669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2303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Response summary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structured answer with evidence and metadata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0" y="1645920"/>
            <a:ext cx="3749040" cy="2697480"/>
          </a:xfrm>
          <a:prstGeom prst="roundRect">
            <a:avLst>
              <a:gd name="adj" fmla="val 4068"/>
            </a:avLst>
          </a:prstGeom>
          <a:solidFill>
            <a:schemeClr val="bg1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92440" y="1645920"/>
            <a:ext cx="3337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Synapt Context Substrate, via MCP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chemeClr val="bg2"/>
                </a:solidFill>
              </a:rPr>
              <a:t>Connected through the Model Context Protocol. Two key uses: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 Telecom domain knowledge and schema context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ask_synapt in the Query agent. Advisory, not evidence.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  SOP procedures for recommendations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get_synapt_procedures in the Recommendation agent.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63840" y="4526280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2440" y="4526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RCA results are hypotheses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Predictions are estimates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Impacts are potential, not confirmed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Recommendations need operational validation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   ·   Questions &amp; Answers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Ops Blue-Green">
  <a:themeElements>
    <a:clrScheme name="NetOps Blue-Green">
      <a:dk1>
        <a:srgbClr val="0B1F2A"/>
      </a:dk1>
      <a:lt1>
        <a:srgbClr val="FFFFFF"/>
      </a:lt1>
      <a:dk2>
        <a:srgbClr val="0B3C5D"/>
      </a:dk2>
      <a:lt2>
        <a:srgbClr val="EAF4F6"/>
      </a:lt2>
      <a:accent1>
        <a:srgbClr val="0E7C86"/>
      </a:accent1>
      <a:accent2>
        <a:srgbClr val="1F6FB2"/>
      </a:accent2>
      <a:accent3>
        <a:srgbClr val="2BB59A"/>
      </a:accent3>
      <a:accent4>
        <a:srgbClr val="5BC0EB"/>
      </a:accent4>
      <a:accent5>
        <a:srgbClr val="E9A23B"/>
      </a:accent5>
      <a:accent6>
        <a:srgbClr val="6B7F8C"/>
      </a:accent6>
      <a:hlink>
        <a:srgbClr val="1F6FB2"/>
      </a:hlink>
      <a:folHlink>
        <a:srgbClr val="6B7F8C"/>
      </a:folHlink>
    </a:clrScheme>
    <a:fontScheme name="NetOps Blue-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Network Decision-Support Assistant</dc:title>
  <dc:subject>PptxGenJS Presentation</dc:subject>
  <dc:creator>PptxGenJS</dc:creator>
  <cp:lastModifiedBy>PptxGenJS</cp:lastModifiedBy>
  <cp:revision>1</cp:revision>
  <dcterms:created xsi:type="dcterms:W3CDTF">2026-10-10T20:31:52Z</dcterms:created>
  <dcterms:modified xsi:type="dcterms:W3CDTF">2026-10-10T20:31:52Z</dcterms:modified>
</cp:coreProperties>
</file>